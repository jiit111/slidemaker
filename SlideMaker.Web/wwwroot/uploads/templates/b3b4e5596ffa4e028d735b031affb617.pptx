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1A"/>
              </a:gs>
              <a:gs pos="55000">
                <a:srgbClr val="171F33"/>
              </a:gs>
              <a:gs pos="100000">
                <a:srgbClr val="1B2140"/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906000" y="-1270000"/>
            <a:ext cx="3556000" cy="3556000"/>
          </a:xfrm>
          <a:prstGeom prst="roundRect">
            <a:avLst>
              <a:gd name="adj" fmla="val 45714"/>
            </a:avLst>
          </a:prstGeom>
          <a:gradFill rotWithShape="1">
            <a:gsLst>
              <a:gs pos="0">
                <a:srgbClr val="7C5CFC">
                  <a:alpha val="3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-1270000" y="4826000"/>
            <a:ext cx="3302000" cy="3302000"/>
          </a:xfrm>
          <a:prstGeom prst="roundRect">
            <a:avLst>
              <a:gd name="adj" fmla="val 49231"/>
            </a:avLst>
          </a:prstGeom>
          <a:gradFill rotWithShape="1">
            <a:gsLst>
              <a:gs pos="0">
                <a:srgbClr val="00E5A0">
                  <a:alpha val="2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812800" y="812800"/>
            <a:ext cx="457200" cy="45720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00E5A0"/>
              </a:gs>
              <a:gs pos="100000">
                <a:srgbClr val="7C5CFC"/>
              </a:gs>
            </a:gsLst>
            <a:lin ang="2700000" scaled="0"/>
          </a:gradFill>
          <a:ln/>
          <a:effectLst>
            <a:outerShdw sx="100000" sy="100000" kx="0" ky="0" algn="bl" rotWithShape="0" blurRad="254000" dist="101600" dir="5400000">
              <a:srgbClr val="7C5CFC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7100" y="92710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A0E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97000" y="908050"/>
            <a:ext cx="1111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200" kern="0" dirty="0">
                <a:solidFill>
                  <a:srgbClr val="EC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ACADEMY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36025" y="860425"/>
            <a:ext cx="2540000" cy="36195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17000" y="952500"/>
            <a:ext cx="224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50" kern="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CLASSROOM SERIES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5975" y="1948855"/>
            <a:ext cx="2889250" cy="354310"/>
          </a:xfrm>
          <a:prstGeom prst="roundRect">
            <a:avLst>
              <a:gd name="adj" fmla="val 50000"/>
            </a:avLst>
          </a:prstGeom>
          <a:solidFill>
            <a:srgbClr val="00E5A0">
              <a:alpha val="12000"/>
            </a:srgbClr>
          </a:solidFill>
          <a:ln w="635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950" y="2028230"/>
            <a:ext cx="260311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00E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 10 · SCIENCE · BIOLOGY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2800" y="248414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100" kern="0" dirty="0">
                <a:gradFill rotWithShape="1">
                  <a:gsLst>
                    <a:gs pos="0">
                      <a:srgbClr val="FFFFFF"/>
                    </a:gs>
                    <a:gs pos="100000">
                      <a:srgbClr val="00E5A0"/>
                    </a:gs>
                  </a:gsLst>
                  <a:lin ang="0" scaled="0"/>
                </a:gra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spc="-100" kern="0" dirty="0">
                <a:gradFill rotWithShape="1">
                  <a:gsLst>
                    <a:gs pos="0">
                      <a:srgbClr val="FFFFFF"/>
                    </a:gs>
                    <a:gs pos="100000">
                      <a:srgbClr val="00E5A0"/>
                    </a:gs>
                  </a:gsLst>
                  <a:lin ang="0" scaled="0"/>
                </a:gra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PROCESSES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12800" y="4262140"/>
            <a:ext cx="71945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7C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living organisms feed, breathe, transport and cleanse themselves to stay alive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5506740"/>
            <a:ext cx="92710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2800" y="5867400"/>
            <a:ext cx="92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Processes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44700" y="5506740"/>
            <a:ext cx="40640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44700" y="5867400"/>
            <a:ext cx="40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55900" y="5506740"/>
            <a:ext cx="107315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55900" y="5867400"/>
            <a:ext cx="10731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Practice MCQ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56900" y="5849640"/>
            <a:ext cx="6731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Chapter 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1A"/>
              </a:gs>
              <a:gs pos="100000">
                <a:srgbClr val="151B2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397000" y="-1397000"/>
            <a:ext cx="3048000" cy="304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E5A0">
                  <a:alpha val="2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815975" y="815975"/>
            <a:ext cx="1352550" cy="311150"/>
          </a:xfrm>
          <a:prstGeom prst="roundRect">
            <a:avLst>
              <a:gd name="adj" fmla="val 50000"/>
            </a:avLst>
          </a:prstGeom>
          <a:solidFill>
            <a:srgbClr val="7C5CFC">
              <a:alpha val="14000"/>
            </a:srgbClr>
          </a:solidFill>
          <a:ln w="6350">
            <a:solidFill>
              <a:srgbClr val="7C5CF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882650"/>
            <a:ext cx="1092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50" kern="0" dirty="0">
                <a:solidFill>
                  <a:srgbClr val="B9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BIG IDEA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800" y="1257300"/>
            <a:ext cx="1088339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b="1" dirty="0">
                <a:solidFill>
                  <a:srgbClr val="EC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Are </a:t>
            </a:r>
            <a:r>
              <a:rPr lang="en-US" sz="33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 Processes?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815975" y="2026245"/>
            <a:ext cx="6108402" cy="2695079"/>
          </a:xfrm>
          <a:prstGeom prst="roundRect">
            <a:avLst>
              <a:gd name="adj" fmla="val 6479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74750" y="2596555"/>
            <a:ext cx="555257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basic functions performed by living organisms to </a:t>
            </a:r>
            <a:r>
              <a:rPr lang="en-US" sz="1600" b="1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stay alive</a:t>
            </a:r>
            <a:r>
              <a:rPr lang="en-US" sz="16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obtaining food, exchanging gases, moving materials, and removing waste.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4750" y="3663355"/>
            <a:ext cx="5552578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organism, from a single bacterium to a human being, must carry out these processes without interruption. Stop even one, and life stops.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32352" y="2845495"/>
            <a:ext cx="279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13352" y="2943225"/>
            <a:ext cx="277971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life processes we'll study today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32352" y="3475335"/>
            <a:ext cx="2095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543502" y="3573066"/>
            <a:ext cx="234149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Living cell where it all happens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975" y="5032474"/>
            <a:ext cx="2520950" cy="806351"/>
          </a:xfrm>
          <a:prstGeom prst="roundRect">
            <a:avLst>
              <a:gd name="adj" fmla="val 15356"/>
            </a:avLst>
          </a:prstGeom>
          <a:solidFill>
            <a:srgbClr val="00E5A0">
              <a:alpha val="8000"/>
            </a:srgbClr>
          </a:solidFill>
          <a:ln w="6350">
            <a:solidFill>
              <a:srgbClr val="00E5A0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950" y="5213449"/>
            <a:ext cx="22237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950" y="5459809"/>
            <a:ext cx="222377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CEE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95675" y="5032474"/>
            <a:ext cx="2520950" cy="806351"/>
          </a:xfrm>
          <a:prstGeom prst="roundRect">
            <a:avLst>
              <a:gd name="adj" fmla="val 15356"/>
            </a:avLst>
          </a:prstGeom>
          <a:solidFill>
            <a:srgbClr val="7C5CFC">
              <a:alpha val="8000"/>
            </a:srgbClr>
          </a:solidFill>
          <a:ln w="6350">
            <a:solidFill>
              <a:srgbClr val="7C5CFC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6650" y="5213449"/>
            <a:ext cx="22237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76650" y="5459809"/>
            <a:ext cx="222377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CEE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Respiration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5375" y="5032474"/>
            <a:ext cx="2520950" cy="806351"/>
          </a:xfrm>
          <a:prstGeom prst="roundRect">
            <a:avLst>
              <a:gd name="adj" fmla="val 15356"/>
            </a:avLst>
          </a:prstGeom>
          <a:solidFill>
            <a:srgbClr val="00E5A0">
              <a:alpha val="8000"/>
            </a:srgbClr>
          </a:solidFill>
          <a:ln w="6350">
            <a:solidFill>
              <a:srgbClr val="00E5A0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6350" y="5213449"/>
            <a:ext cx="22237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6350" y="5459809"/>
            <a:ext cx="222377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CEE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Transportation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855075" y="5032474"/>
            <a:ext cx="2520950" cy="806351"/>
          </a:xfrm>
          <a:prstGeom prst="roundRect">
            <a:avLst>
              <a:gd name="adj" fmla="val 15356"/>
            </a:avLst>
          </a:prstGeom>
          <a:solidFill>
            <a:srgbClr val="7C5CFC">
              <a:alpha val="8000"/>
            </a:srgbClr>
          </a:solidFill>
          <a:ln w="6350">
            <a:solidFill>
              <a:srgbClr val="7C5CFC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36050" y="5213449"/>
            <a:ext cx="22237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36050" y="5459809"/>
            <a:ext cx="222377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CEE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Excretion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2800" y="6256040"/>
            <a:ext cx="234149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 ACADEMY — LIFE PROCESSES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34700" y="6256040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/ 09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1A"/>
              </a:gs>
              <a:gs pos="100000">
                <a:srgbClr val="151B2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0541000" y="-1270000"/>
            <a:ext cx="2921000" cy="2921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E5A0">
                  <a:alpha val="2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815975" y="815975"/>
            <a:ext cx="1238250" cy="311150"/>
          </a:xfrm>
          <a:prstGeom prst="roundRect">
            <a:avLst>
              <a:gd name="adj" fmla="val 50000"/>
            </a:avLst>
          </a:prstGeom>
          <a:solidFill>
            <a:srgbClr val="00E5A0">
              <a:alpha val="14000"/>
            </a:srgbClr>
          </a:solidFill>
          <a:ln w="635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882650"/>
            <a:ext cx="97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50" kern="0" dirty="0">
                <a:solidFill>
                  <a:srgbClr val="5EEB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800" y="1231900"/>
            <a:ext cx="10883392" cy="478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EC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Nutrition — Fuelling the Body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15975" y="1967210"/>
            <a:ext cx="10560050" cy="1388070"/>
          </a:xfrm>
          <a:prstGeom prst="roundRect">
            <a:avLst>
              <a:gd name="adj" fmla="val 1258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6775" y="2325985"/>
            <a:ext cx="553980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PHOTOSYNTHESIS — HOW GREEN PLANTS MAKE THEIR OWN FOOD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15258" y="2623145"/>
            <a:ext cx="4761484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CO₂ + H₂O</a:t>
            </a:r>
            <a:r>
              <a:rPr lang="en-US" sz="2100" b="1" dirty="0">
                <a:solidFill>
                  <a:srgbClr val="EC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+ Sunlight </a:t>
            </a:r>
            <a:r>
              <a:rPr lang="en-US" sz="21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r>
              <a:rPr lang="en-US" sz="2100" b="1" dirty="0">
                <a:solidFill>
                  <a:srgbClr val="EC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21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Glucose + O₂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15975" y="3641030"/>
            <a:ext cx="5149850" cy="2197795"/>
          </a:xfrm>
          <a:prstGeom prst="roundRect">
            <a:avLst>
              <a:gd name="adj" fmla="val 6790"/>
            </a:avLst>
          </a:prstGeom>
          <a:solidFill>
            <a:srgbClr val="00E5A0">
              <a:alpha val="8000"/>
            </a:srgbClr>
          </a:solidFill>
          <a:ln w="6350">
            <a:solidFill>
              <a:srgbClr val="00E5A0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3150" y="3898205"/>
            <a:ext cx="47745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Autotrophic Nutrition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3150" y="4243586"/>
            <a:ext cx="477456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Organisms like green plants make their own food using CO₂, water and sunlight through photosynthesis.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26175" y="3641030"/>
            <a:ext cx="5149850" cy="2197795"/>
          </a:xfrm>
          <a:prstGeom prst="roundRect">
            <a:avLst>
              <a:gd name="adj" fmla="val 6790"/>
            </a:avLst>
          </a:prstGeom>
          <a:solidFill>
            <a:srgbClr val="7C5CFC">
              <a:alpha val="8000"/>
            </a:srgbClr>
          </a:solidFill>
          <a:ln w="6350">
            <a:solidFill>
              <a:srgbClr val="7C5CFC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350" y="3898205"/>
            <a:ext cx="47745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Heterotrophic Nutrition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3350" y="4243586"/>
            <a:ext cx="477456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Organisms like humans and animals cannot make their own food — they depend on plants or other organisms for it.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56040"/>
            <a:ext cx="234149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 ACADEMY — LIFE PROCESSES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34700" y="6256040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/ 09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1A"/>
              </a:gs>
              <a:gs pos="100000">
                <a:srgbClr val="151B2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397000" y="-1397000"/>
            <a:ext cx="2921000" cy="2921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5CFC">
                  <a:alpha val="2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815975" y="815975"/>
            <a:ext cx="1238250" cy="311150"/>
          </a:xfrm>
          <a:prstGeom prst="roundRect">
            <a:avLst>
              <a:gd name="adj" fmla="val 50000"/>
            </a:avLst>
          </a:prstGeom>
          <a:solidFill>
            <a:srgbClr val="7C5CFC">
              <a:alpha val="14000"/>
            </a:srgbClr>
          </a:solidFill>
          <a:ln w="6350">
            <a:solidFill>
              <a:srgbClr val="7C5CF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882650"/>
            <a:ext cx="97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50" kern="0" dirty="0">
                <a:solidFill>
                  <a:srgbClr val="B9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800" y="1231900"/>
            <a:ext cx="10883392" cy="478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EC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Respiration — Releasing Energy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12800" y="1964035"/>
            <a:ext cx="10566400" cy="2850753"/>
          </a:xfrm>
          <a:prstGeom prst="roundRect">
            <a:avLst>
              <a:gd name="adj" fmla="val 4455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1964035"/>
            <a:ext cx="10566400" cy="2850753"/>
          </a:xfrm>
          <a:custGeom>
            <a:avLst/>
            <a:gdLst/>
            <a:ahLst/>
            <a:cxnLst/>
            <a:rect l="l" t="t" r="r" b="b"/>
            <a:pathLst>
              <a:path w="10566400" h="2850753">
                <a:moveTo>
                  <a:pt x="10439400" y="0"/>
                </a:moveTo>
                <a:lnTo>
                  <a:pt x="10439400" y="0"/>
                </a:lnTo>
                <a:arcTo hR="127000" wR="127000" stAng="16200000" swAng="5400000"/>
                <a:lnTo>
                  <a:pt x="10566400" y="2723753"/>
                </a:lnTo>
                <a:arcTo hR="127000" wR="127000" stAng="0" swAng="5400000"/>
                <a:lnTo>
                  <a:pt x="127000" y="2850753"/>
                </a:lnTo>
                <a:arcTo hR="127000" wR="127000" stAng="5400000" swAng="5400000"/>
                <a:lnTo>
                  <a:pt x="0" y="2723753"/>
                </a:lnTo>
                <a:arcTo hR="120650" wR="127000" stAng="10800000" swAng="-5400000"/>
                <a:lnTo>
                  <a:pt x="10439400" y="2844403"/>
                </a:lnTo>
                <a:arcTo hR="120650" wR="120650" stAng="5400000" swAng="-5400000"/>
                <a:lnTo>
                  <a:pt x="10560050" y="127000"/>
                </a:lnTo>
                <a:arcTo hR="127000" wR="120650" stAng="0" swAng="-5400000"/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800" y="1964035"/>
            <a:ext cx="10566400" cy="2850753"/>
          </a:xfrm>
          <a:custGeom>
            <a:avLst/>
            <a:gdLst/>
            <a:ahLst/>
            <a:cxnLst/>
            <a:rect l="l" t="t" r="r" b="b"/>
            <a:pathLst>
              <a:path w="10566400" h="2850753">
                <a:moveTo>
                  <a:pt x="127000" y="2850753"/>
                </a:moveTo>
                <a:lnTo>
                  <a:pt x="127000" y="2850753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0439400" y="0"/>
                </a:lnTo>
                <a:arcTo hR="127000" wR="127000" stAng="16200000" swAng="5400000"/>
                <a:lnTo>
                  <a:pt x="10566400" y="127000"/>
                </a:lnTo>
                <a:arcTo hR="114300" wR="127000" stAng="0" swAng="-5400000"/>
                <a:lnTo>
                  <a:pt x="127000" y="12700"/>
                </a:lnTo>
                <a:arcTo hR="114300" wR="114300" stAng="16200000" swAng="-5400000"/>
                <a:lnTo>
                  <a:pt x="12700" y="2723753"/>
                </a:lnTo>
                <a:arcTo hR="127000" wR="114300" stAng="10800000" swAng="-5400000"/>
                <a:close/>
              </a:path>
            </a:pathLst>
          </a:custGeom>
          <a:solidFill>
            <a:srgbClr val="FAF9F5">
              <a:alpha val="22000"/>
            </a:srgbClr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76735"/>
          <a:ext cx="10547350" cy="2831703"/>
        </p:xfrm>
        <a:graphic>
          <a:graphicData uri="http://schemas.openxmlformats.org/drawingml/2006/table">
            <a:tbl>
              <a:tblPr/>
              <a:tblGrid>
                <a:gridCol w="2953258"/>
                <a:gridCol w="3797046"/>
                <a:gridCol w="3797046"/>
              </a:tblGrid>
              <a:tr h="5663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97A1B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595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95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E5A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Aerobic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12700" cap="flat" cmpd="sng" algn="ctr">
                      <a:solidFill>
                        <a:srgbClr val="595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95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7C5C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Anaerobic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12700" cap="flat" cmpd="sng" algn="ctr">
                      <a:solidFill>
                        <a:srgbClr val="595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95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9"/>
                    </a:solidFill>
                  </a:tcPr>
                </a:tc>
              </a:tr>
              <a:tr h="5663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CEE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Oxygen needed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CEE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CEE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B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3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CEE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Occurs 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CEE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Mitochondria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CEE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Cytoplasm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C"/>
                    </a:solidFill>
                  </a:tcPr>
                </a:tc>
              </a:tr>
              <a:tr h="5663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CEE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End products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CEE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CO₂ + H₂O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CEE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Lactic acid / Alcohol + CO₂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3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CEE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Energy released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CEE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 (~38 ATP)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CEE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Low (~2 ATP)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203200" marR="203200" marT="152400" marB="152400" anchor="t">
                    <a:lnL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15975" y="5097363"/>
            <a:ext cx="10560050" cy="643830"/>
          </a:xfrm>
          <a:prstGeom prst="roundRect">
            <a:avLst>
              <a:gd name="adj" fmla="val 192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12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530492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28750" y="5303738"/>
            <a:ext cx="772433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CE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Muscle cramps during heavy exercise happen due to lactic acid build-up from </a:t>
            </a:r>
            <a:r>
              <a:rPr lang="en-US" sz="1300" b="1" dirty="0">
                <a:solidFill>
                  <a:srgbClr val="DCE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anaerobic respiration</a:t>
            </a:r>
            <a:r>
              <a:rPr lang="en-US" sz="1300" dirty="0">
                <a:solidFill>
                  <a:srgbClr val="DCE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12800" y="6256040"/>
            <a:ext cx="234149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 ACADEMY — LIFE PROCESSES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0934700" y="6256040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/ 09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1A"/>
              </a:gs>
              <a:gs pos="100000">
                <a:srgbClr val="151B2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0541000" y="5207000"/>
            <a:ext cx="2921000" cy="2921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E5A0">
                  <a:alpha val="2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815975" y="815975"/>
            <a:ext cx="1238250" cy="311150"/>
          </a:xfrm>
          <a:prstGeom prst="roundRect">
            <a:avLst>
              <a:gd name="adj" fmla="val 50000"/>
            </a:avLst>
          </a:prstGeom>
          <a:solidFill>
            <a:srgbClr val="00E5A0">
              <a:alpha val="14000"/>
            </a:srgbClr>
          </a:solidFill>
          <a:ln w="635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882650"/>
            <a:ext cx="97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50" kern="0" dirty="0">
                <a:solidFill>
                  <a:srgbClr val="5EEB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800" y="1231900"/>
            <a:ext cx="10883392" cy="478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EC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Transportation — Moving Materials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15975" y="1967210"/>
            <a:ext cx="5901432" cy="2087761"/>
          </a:xfrm>
          <a:prstGeom prst="roundRect">
            <a:avLst>
              <a:gd name="adj" fmla="val 8364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23950" y="2275185"/>
            <a:ext cx="5444046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</a:t>
            </a:r>
            <a:r>
              <a:rPr lang="en-US" sz="1500" b="1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circulatory system</a:t>
            </a:r>
            <a:r>
              <a:rPr lang="en-US" sz="15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carries oxygen, digested food, hormones and waste to and from every cell in the body through blood.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23950" y="3259435"/>
            <a:ext cx="5444046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heart pumps continuously — about 100,000 times a day — driving blood through a closed network of vessels.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74582" y="2289770"/>
            <a:ext cx="26035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36532" y="2372320"/>
            <a:ext cx="228263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Chambers of the human heart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4582" y="2812951"/>
            <a:ext cx="24765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23832" y="2895501"/>
            <a:ext cx="21845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Circuits — double circulation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74582" y="3336131"/>
            <a:ext cx="43180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507982" y="3418681"/>
            <a:ext cx="250501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Average resting heartbeats /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4340721"/>
            <a:ext cx="2520950" cy="806351"/>
          </a:xfrm>
          <a:prstGeom prst="roundRect">
            <a:avLst>
              <a:gd name="adj" fmla="val 15356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950" y="4521696"/>
            <a:ext cx="222377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Plasma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6950" y="4770537"/>
            <a:ext cx="22237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Carries nutrients &amp; waste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95675" y="4340721"/>
            <a:ext cx="2520950" cy="806351"/>
          </a:xfrm>
          <a:prstGeom prst="roundRect">
            <a:avLst>
              <a:gd name="adj" fmla="val 15356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6650" y="4521696"/>
            <a:ext cx="222377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 Blood Cells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76650" y="4770537"/>
            <a:ext cx="22237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Carry oxygen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5375" y="4340721"/>
            <a:ext cx="2520950" cy="806351"/>
          </a:xfrm>
          <a:prstGeom prst="roundRect">
            <a:avLst>
              <a:gd name="adj" fmla="val 15356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6350" y="4521696"/>
            <a:ext cx="222377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White Blood Cells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6350" y="4770537"/>
            <a:ext cx="22237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Fight infection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55075" y="4340721"/>
            <a:ext cx="2520950" cy="806351"/>
          </a:xfrm>
          <a:prstGeom prst="roundRect">
            <a:avLst>
              <a:gd name="adj" fmla="val 15356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36050" y="4521696"/>
            <a:ext cx="222377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Platelets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36050" y="4770537"/>
            <a:ext cx="22237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Help blood clot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2800" y="6256040"/>
            <a:ext cx="234149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 ACADEMY — LIFE PROCESSES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34700" y="6256040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/ 09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1A"/>
              </a:gs>
              <a:gs pos="100000">
                <a:srgbClr val="151B2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397000" y="5334000"/>
            <a:ext cx="2921000" cy="2921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5CFC">
                  <a:alpha val="2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815975" y="815975"/>
            <a:ext cx="1238250" cy="311150"/>
          </a:xfrm>
          <a:prstGeom prst="roundRect">
            <a:avLst>
              <a:gd name="adj" fmla="val 50000"/>
            </a:avLst>
          </a:prstGeom>
          <a:solidFill>
            <a:srgbClr val="7C5CFC">
              <a:alpha val="14000"/>
            </a:srgbClr>
          </a:solidFill>
          <a:ln w="6350">
            <a:solidFill>
              <a:srgbClr val="7C5CF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882650"/>
            <a:ext cx="97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50" kern="0" dirty="0">
                <a:solidFill>
                  <a:srgbClr val="B9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800" y="1231900"/>
            <a:ext cx="10883392" cy="478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EC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Excretion — Removing Waste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12800" y="1989435"/>
            <a:ext cx="9810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7C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</a:t>
            </a:r>
            <a:r>
              <a:rPr lang="en-US" sz="1400" b="1" dirty="0">
                <a:solidFill>
                  <a:srgbClr val="C7C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kidney</a:t>
            </a:r>
            <a:r>
              <a:rPr lang="en-US" sz="1400" dirty="0">
                <a:solidFill>
                  <a:srgbClr val="C7C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the main excretory organ. Each kidney is made of millions of tiny filtration units called </a:t>
            </a:r>
            <a:r>
              <a:rPr lang="en-US" sz="1400" b="1" dirty="0">
                <a:solidFill>
                  <a:srgbClr val="C7C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nephrons</a:t>
            </a:r>
            <a:r>
              <a:rPr lang="en-US" sz="1400" dirty="0">
                <a:solidFill>
                  <a:srgbClr val="C7C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which clean the blood in three stages: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3509963"/>
            <a:ext cx="3109317" cy="1649611"/>
          </a:xfrm>
          <a:prstGeom prst="roundRect">
            <a:avLst>
              <a:gd name="adj" fmla="val 9046"/>
            </a:avLst>
          </a:prstGeom>
          <a:solidFill>
            <a:srgbClr val="00E5A0">
              <a:alpha val="8000"/>
            </a:srgbClr>
          </a:solidFill>
          <a:ln w="6350">
            <a:solidFill>
              <a:srgbClr val="00E5A0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3150" y="3767138"/>
            <a:ext cx="267281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3150" y="4099818"/>
            <a:ext cx="267281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CEE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3150" y="4445198"/>
            <a:ext cx="267281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Blood is filtered in the glomerulus to form the initial filtrate.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80867" y="4121448"/>
            <a:ext cx="3556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41242" y="3509963"/>
            <a:ext cx="3109416" cy="1649611"/>
          </a:xfrm>
          <a:prstGeom prst="roundRect">
            <a:avLst>
              <a:gd name="adj" fmla="val 9046"/>
            </a:avLst>
          </a:prstGeom>
          <a:solidFill>
            <a:srgbClr val="7C5CFC">
              <a:alpha val="8000"/>
            </a:srgbClr>
          </a:solidFill>
          <a:ln w="6350">
            <a:solidFill>
              <a:srgbClr val="7C5CFC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8417" y="3767138"/>
            <a:ext cx="26729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98417" y="4099818"/>
            <a:ext cx="267291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CEE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Reabsorption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98417" y="4445198"/>
            <a:ext cx="267291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Useful substances like glucose and water are reabsorbed into the blood.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06234" y="4121448"/>
            <a:ext cx="3556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266609" y="3509963"/>
            <a:ext cx="3109416" cy="1649611"/>
          </a:xfrm>
          <a:prstGeom prst="roundRect">
            <a:avLst>
              <a:gd name="adj" fmla="val 9046"/>
            </a:avLst>
          </a:prstGeom>
          <a:solidFill>
            <a:srgbClr val="00E5A0">
              <a:alpha val="8000"/>
            </a:srgbClr>
          </a:solidFill>
          <a:ln w="6350">
            <a:solidFill>
              <a:srgbClr val="00E5A0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23784" y="3767138"/>
            <a:ext cx="26729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23784" y="4099818"/>
            <a:ext cx="267291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CEE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Secretion &amp; Excretion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23784" y="4445198"/>
            <a:ext cx="267291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 waste and water are released as urine, sent to the bladder.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56040"/>
            <a:ext cx="234149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 ACADEMY — LIFE PROCESSES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34700" y="6256040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/ 09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1A"/>
              </a:gs>
              <a:gs pos="55000">
                <a:srgbClr val="171F33"/>
              </a:gs>
              <a:gs pos="100000">
                <a:srgbClr val="1B2140"/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0287000" y="-1270000"/>
            <a:ext cx="3175000" cy="317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5CFC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815975" y="815975"/>
            <a:ext cx="1339850" cy="311150"/>
          </a:xfrm>
          <a:prstGeom prst="roundRect">
            <a:avLst>
              <a:gd name="adj" fmla="val 50000"/>
            </a:avLst>
          </a:prstGeom>
          <a:solidFill>
            <a:srgbClr val="00E5A0">
              <a:alpha val="14000"/>
            </a:srgbClr>
          </a:solidFill>
          <a:ln w="635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882650"/>
            <a:ext cx="107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50" kern="0" dirty="0">
                <a:solidFill>
                  <a:srgbClr val="5EEB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CHECK</a:t>
            </a:r>
            <a:endParaRPr lang="en-US" sz="1000" dirty="0"/>
          </a:p>
        </p:txBody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7800" y="882650"/>
            <a:ext cx="177800" cy="177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91800" y="864890"/>
            <a:ext cx="838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seconds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1409700"/>
            <a:ext cx="10464800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25"/>
              </a:lnSpc>
              <a:buNone/>
            </a:pPr>
            <a:r>
              <a:rPr lang="en-US" sz="2900" b="1" dirty="0">
                <a:solidFill>
                  <a:srgbClr val="EC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Which gas is released as a by-product during photosynthesis?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815975" y="3449340"/>
            <a:ext cx="5200650" cy="697210"/>
          </a:xfrm>
          <a:prstGeom prst="roundRect">
            <a:avLst>
              <a:gd name="adj" fmla="val 1776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47750" y="3655715"/>
            <a:ext cx="177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27150" y="3664545"/>
            <a:ext cx="1333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Carbon dioxide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75375" y="3449340"/>
            <a:ext cx="5200650" cy="697210"/>
          </a:xfrm>
          <a:prstGeom prst="roundRect">
            <a:avLst>
              <a:gd name="adj" fmla="val 1776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7150" y="3655715"/>
            <a:ext cx="1841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92900" y="3664545"/>
            <a:ext cx="6794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Oxygen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15975" y="4305300"/>
            <a:ext cx="5200650" cy="697210"/>
          </a:xfrm>
          <a:prstGeom prst="roundRect">
            <a:avLst>
              <a:gd name="adj" fmla="val 1776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47750" y="4511675"/>
            <a:ext cx="1841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33500" y="4520505"/>
            <a:ext cx="7937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Nitrogen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75375" y="4305300"/>
            <a:ext cx="5200650" cy="697210"/>
          </a:xfrm>
          <a:prstGeom prst="roundRect">
            <a:avLst>
              <a:gd name="adj" fmla="val 1776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7150" y="4511675"/>
            <a:ext cx="1841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92900" y="4520505"/>
            <a:ext cx="87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Hydrogen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12800" y="6256040"/>
            <a:ext cx="234149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 ACADEMY — LIFE PROCESSES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934700" y="6256040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/ 09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1A"/>
              </a:gs>
              <a:gs pos="55000">
                <a:srgbClr val="171F33"/>
              </a:gs>
              <a:gs pos="100000">
                <a:srgbClr val="1B2140"/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0287000" y="-1270000"/>
            <a:ext cx="3175000" cy="317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E5A0">
                  <a:alpha val="2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4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77491"/>
            <a:ext cx="279400" cy="2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9200" y="812800"/>
            <a:ext cx="470916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C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Correct Answer: </a:t>
            </a:r>
            <a:r>
              <a:rPr lang="en-US" sz="28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B. Oxygen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5975" y="1478855"/>
            <a:ext cx="5194300" cy="623491"/>
          </a:xfrm>
          <a:prstGeom prst="roundRect">
            <a:avLst>
              <a:gd name="adj" fmla="val 19860"/>
            </a:avLst>
          </a:prstGeom>
          <a:solidFill>
            <a:srgbClr val="FFFFFF">
              <a:alpha val="1000"/>
            </a:srgbClr>
          </a:solidFill>
          <a:ln w="635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2350" y="1666180"/>
            <a:ext cx="1651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CFC">
                    <a:alpha val="4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63650" y="1675011"/>
            <a:ext cx="11747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EDA">
                    <a:alpha val="4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Carbon dioxide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482030"/>
            <a:ext cx="5200650" cy="617141"/>
          </a:xfrm>
          <a:prstGeom prst="roundRect">
            <a:avLst>
              <a:gd name="adj" fmla="val 19550"/>
            </a:avLst>
          </a:prstGeom>
          <a:solidFill>
            <a:srgbClr val="00E5A0">
              <a:alpha val="14000"/>
            </a:srgbClr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254000" dist="0" dir="60000">
              <a:srgbClr val="00E5A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81750" y="1666180"/>
            <a:ext cx="171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29400" y="1675011"/>
            <a:ext cx="622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Oxygen</a:t>
            </a:r>
            <a:endParaRPr lang="en-US" sz="1300" dirty="0"/>
          </a:p>
        </p:txBody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27900" y="1701701"/>
            <a:ext cx="177800" cy="177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5975" y="2235696"/>
            <a:ext cx="5200650" cy="610791"/>
          </a:xfrm>
          <a:prstGeom prst="roundRect">
            <a:avLst>
              <a:gd name="adj" fmla="val 20273"/>
            </a:avLst>
          </a:prstGeom>
          <a:solidFill>
            <a:srgbClr val="FFFFFF">
              <a:alpha val="1000"/>
            </a:srgbClr>
          </a:solidFill>
          <a:ln w="635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2350" y="2416671"/>
            <a:ext cx="1651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CFC">
                    <a:alpha val="4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63650" y="2425502"/>
            <a:ext cx="6985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EDA">
                    <a:alpha val="4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Nitrogen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75375" y="2235696"/>
            <a:ext cx="5200650" cy="610791"/>
          </a:xfrm>
          <a:prstGeom prst="roundRect">
            <a:avLst>
              <a:gd name="adj" fmla="val 20273"/>
            </a:avLst>
          </a:prstGeom>
          <a:solidFill>
            <a:srgbClr val="FFFFFF">
              <a:alpha val="1000"/>
            </a:srgbClr>
          </a:solidFill>
          <a:ln w="635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81750" y="2416671"/>
            <a:ext cx="171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CFC">
                    <a:alpha val="4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629400" y="2425502"/>
            <a:ext cx="7747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EDA">
                    <a:alpha val="4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Hydrogen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5975" y="3106837"/>
            <a:ext cx="10560050" cy="2731988"/>
          </a:xfrm>
          <a:prstGeom prst="roundRect">
            <a:avLst>
              <a:gd name="adj" fmla="val 5462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23950" y="4023221"/>
            <a:ext cx="10242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EXPLANATION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23950" y="4312741"/>
            <a:ext cx="1024242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During photosynthesis, plants split water molecules using sunlight. The hydrogen is used to make glucose, while </a:t>
            </a:r>
            <a:r>
              <a:rPr lang="en-US" sz="1500" b="1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oxygen is released into the air</a:t>
            </a:r>
            <a:r>
              <a:rPr lang="en-US" sz="15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as a by-product — the very oxygen we breathe.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812800" y="6256040"/>
            <a:ext cx="234149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 ACADEMY — LIFE PROCESSES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934700" y="6256040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/ 09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1A"/>
              </a:gs>
              <a:gs pos="55000">
                <a:srgbClr val="171F33"/>
              </a:gs>
              <a:gs pos="100000">
                <a:srgbClr val="1B2140"/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397000" y="-1397000"/>
            <a:ext cx="3302000" cy="3302000"/>
          </a:xfrm>
          <a:prstGeom prst="roundRect">
            <a:avLst>
              <a:gd name="adj" fmla="val 49231"/>
            </a:avLst>
          </a:prstGeom>
          <a:gradFill rotWithShape="1">
            <a:gsLst>
              <a:gs pos="0">
                <a:srgbClr val="7C5CFC">
                  <a:alpha val="3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0287000" y="4953000"/>
            <a:ext cx="3302000" cy="3302000"/>
          </a:xfrm>
          <a:prstGeom prst="roundRect">
            <a:avLst>
              <a:gd name="adj" fmla="val 49231"/>
            </a:avLst>
          </a:prstGeom>
          <a:gradFill rotWithShape="1">
            <a:gsLst>
              <a:gs pos="0">
                <a:srgbClr val="00E5A0">
                  <a:alpha val="2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815975" y="815975"/>
            <a:ext cx="1555750" cy="311150"/>
          </a:xfrm>
          <a:prstGeom prst="roundRect">
            <a:avLst>
              <a:gd name="adj" fmla="val 50000"/>
            </a:avLst>
          </a:prstGeom>
          <a:solidFill>
            <a:srgbClr val="7C5CFC">
              <a:alpha val="14000"/>
            </a:srgbClr>
          </a:solidFill>
          <a:ln w="6350">
            <a:solidFill>
              <a:srgbClr val="7C5C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1550" y="882650"/>
            <a:ext cx="129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50" kern="0" dirty="0">
                <a:solidFill>
                  <a:srgbClr val="B9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800" y="1231900"/>
            <a:ext cx="10883392" cy="478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EC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Four Life Processes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15975" y="1992610"/>
            <a:ext cx="10560050" cy="595610"/>
          </a:xfrm>
          <a:prstGeom prst="roundRect">
            <a:avLst>
              <a:gd name="adj" fmla="val 18657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750" y="2148185"/>
            <a:ext cx="45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31950" y="2165945"/>
            <a:ext cx="593877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Nutrition</a:t>
            </a:r>
            <a:r>
              <a:rPr lang="en-US" sz="14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plants make their own food; animals depend on others for 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5975" y="2721570"/>
            <a:ext cx="10560050" cy="595610"/>
          </a:xfrm>
          <a:prstGeom prst="roundRect">
            <a:avLst>
              <a:gd name="adj" fmla="val 18657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7750" y="2877145"/>
            <a:ext cx="45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31950" y="2894905"/>
            <a:ext cx="492499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Respiration</a:t>
            </a:r>
            <a:r>
              <a:rPr lang="en-US" sz="14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aerobic releases more energy than anaerobic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975" y="3450530"/>
            <a:ext cx="10560050" cy="595610"/>
          </a:xfrm>
          <a:prstGeom prst="roundRect">
            <a:avLst>
              <a:gd name="adj" fmla="val 18657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7750" y="3606105"/>
            <a:ext cx="45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0E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31950" y="3623866"/>
            <a:ext cx="54940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Transportation</a:t>
            </a:r>
            <a:r>
              <a:rPr lang="en-US" sz="14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heart and blood move materials to every cell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5975" y="4179491"/>
            <a:ext cx="10560050" cy="595610"/>
          </a:xfrm>
          <a:prstGeom prst="roundRect">
            <a:avLst>
              <a:gd name="adj" fmla="val 18657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7750" y="4335066"/>
            <a:ext cx="45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7C5C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31950" y="4352826"/>
            <a:ext cx="570985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Excretion</a:t>
            </a:r>
            <a:r>
              <a:rPr lang="en-US" sz="1400" dirty="0">
                <a:solidFill>
                  <a:srgbClr val="E3E7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kidney filters, reabsorbs and removes waste as urine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6530" y="5242620"/>
            <a:ext cx="523894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gradFill rotWithShape="1">
                  <a:gsLst>
                    <a:gs pos="0">
                      <a:srgbClr val="00E5A0"/>
                    </a:gs>
                    <a:gs pos="100000">
                      <a:srgbClr val="7C5CFC"/>
                    </a:gs>
                  </a:gsLst>
                  <a:lin ang="0" scaled="0"/>
                </a:gra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Master the process. Master the exam.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54525" y="5628680"/>
            <a:ext cx="33814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97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 ACADEMY — LEARNING, REIMAGINED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 Academy - Life Processes</dc:title>
  <dc:subject>PptxGenJS Presentation</dc:subject>
  <dc:creator>PptxGenJS</dc:creator>
  <cp:lastModifiedBy>PptxGenJS</cp:lastModifiedBy>
  <cp:revision>1</cp:revision>
  <dcterms:created xsi:type="dcterms:W3CDTF">2026-09-27T09:43:20Z</dcterms:created>
  <dcterms:modified xsi:type="dcterms:W3CDTF">2026-09-27T09:43:20Z</dcterms:modified>
</cp:coreProperties>
</file>